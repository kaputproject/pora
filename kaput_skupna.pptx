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4"/>
  </p:sldMasterIdLst>
  <p:notesMasterIdLst>
    <p:notesMasterId r:id="rId20"/>
  </p:notesMasterIdLst>
  <p:sldIdLst>
    <p:sldId id="256" r:id="rId5"/>
    <p:sldId id="257" r:id="rId6"/>
    <p:sldId id="305" r:id="rId7"/>
    <p:sldId id="319" r:id="rId8"/>
    <p:sldId id="306" r:id="rId9"/>
    <p:sldId id="307" r:id="rId10"/>
    <p:sldId id="308" r:id="rId11"/>
    <p:sldId id="317" r:id="rId12"/>
    <p:sldId id="318" r:id="rId13"/>
    <p:sldId id="311" r:id="rId14"/>
    <p:sldId id="320" r:id="rId15"/>
    <p:sldId id="321" r:id="rId16"/>
    <p:sldId id="314" r:id="rId17"/>
    <p:sldId id="316" r:id="rId18"/>
    <p:sldId id="322" r:id="rId19"/>
  </p:sldIdLst>
  <p:sldSz cx="9144000" cy="5143500" type="screen16x9"/>
  <p:notesSz cx="6858000" cy="9144000"/>
  <p:embeddedFontLst>
    <p:embeddedFont>
      <p:font typeface="Figtree Black" panose="020B0604020202020204" charset="0"/>
      <p:bold r:id="rId21"/>
      <p:boldItalic r:id="rId22"/>
    </p:embeddedFont>
    <p:embeddedFont>
      <p:font typeface="Hanken Grotesk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4FC2BB-599E-451A-9B0D-5225DAC6C6C6}">
  <a:tblStyle styleId="{F54FC2BB-599E-451A-9B0D-5225DAC6C6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99" d="100"/>
          <a:sy n="199" d="100"/>
        </p:scale>
        <p:origin x="144" y="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6C322F12-0A34-2A6C-98BE-9EE215EAB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64305D45-4620-1D9D-978D-A63DE16B00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D15E4ED5-5562-AB2F-441E-C664426D2D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0181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B4EE9120-4291-2CD7-CB19-8EFC946E4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5F6E5944-AAC4-4233-0B3E-6F9469104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FCCE9BB4-82F5-D002-B543-EBA126557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0723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DCB64D56-94B1-8A7C-60AB-FD6718B2F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EFD256A0-A9AE-87E7-B144-48EB3EC408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AFC26E6A-9C4E-375F-94E4-6486EAFE7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44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0A86818F-6C85-61BF-ED25-6C232276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C6AAE4FE-68EF-F23D-288C-B50019FD19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13074A8C-AF04-2CDA-1181-BD8979A712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7854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53ACD708-2598-6B26-4A99-64C0015F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B76B2FA4-E69C-E11B-A851-FD314AD5B6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25BA3AE0-9E5F-F967-0067-2923326CB5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0447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32DAA4CE-D1C5-700A-567E-D6A727586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F41E62E0-EC84-8499-A654-0F5CB04C16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4E052923-702B-5894-4736-BE14AC7681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0173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58F3959D-92B0-0024-E416-EF22D197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0AA3010D-C2E3-D6B2-0117-5E67607AE4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598112A3-0006-EDC9-E350-322F872162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2403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C208173F-6940-9153-A978-DBD74FD46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BAB3DA9A-7903-C41E-062D-26479627D6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6B882E52-06F2-E393-B283-B349E0528A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006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6C030A68-E2D9-25E4-965C-9ECC7E7E8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EAA2B4B5-E85B-F201-1DE3-A586AB466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C1E513F4-97C0-FFF8-D2DF-8640B0A0C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59421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F1791384-1F73-2C60-3393-C4D2E8A23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61D44A87-CF99-3B00-6EC5-00415ABDBB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C1B6DC59-D825-A28D-6DCC-5BA84E8EF7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6015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0F8C3436-A0C3-09A8-E04A-CCEA98FC0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DA3F89DB-9477-3FAE-B73A-B7B7913F96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108669DF-3FE4-F866-3D60-57EAC2DBA1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7626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2A1B4018-3B19-77B8-7BFD-2BF1BAA6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88C5ABCC-C563-6AE7-A290-E75961C90D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2793E123-FC65-EC2D-108C-050D05DDD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3555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C8BD9766-2C28-93BA-2D39-F7BEB36F1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1EB2577F-9FE8-C719-8677-91803F0033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7B4C2155-38E8-9C70-97D4-5646BD5BD0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8561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7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xsWYVaN8F08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087125" y="1663882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4800" noProof="0" dirty="0" err="1"/>
              <a:t>Kaput</a:t>
            </a:r>
            <a:endParaRPr lang="sl-SI" noProof="0" dirty="0"/>
          </a:p>
        </p:txBody>
      </p:sp>
      <p:sp>
        <p:nvSpPr>
          <p:cNvPr id="290" name="Google Shape;290;p33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sz="1600" noProof="0" dirty="0">
                <a:latin typeface="Hanken Grotesk"/>
                <a:ea typeface="Hanken Grotesk"/>
                <a:cs typeface="Hanken Grotesk"/>
                <a:sym typeface="Hanken Grotesk"/>
              </a:rPr>
              <a:t>Luka Kuder, Enej Kramar, David Guček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56A7948F-2213-3E45-926D-CA713AC5C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603" y="1247076"/>
            <a:ext cx="1247926" cy="12479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Ideja projekta</a:t>
            </a:r>
          </a:p>
        </p:txBody>
      </p:sp>
      <p:sp>
        <p:nvSpPr>
          <p:cNvPr id="296" name="Google Shape;296;p34"/>
          <p:cNvSpPr txBox="1">
            <a:spLocks noGrp="1"/>
          </p:cNvSpPr>
          <p:nvPr>
            <p:ph type="body" idx="4294967295"/>
          </p:nvPr>
        </p:nvSpPr>
        <p:spPr>
          <a:xfrm>
            <a:off x="720000" y="934719"/>
            <a:ext cx="3942961" cy="37637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>
                <a:latin typeface="Hanken Grotesk"/>
                <a:ea typeface="Hanken Grotesk"/>
                <a:cs typeface="Hanken Grotesk"/>
                <a:sym typeface="Hanken Grotesk"/>
              </a:rPr>
              <a:t>Zbiranje podatkov </a:t>
            </a:r>
            <a:r>
              <a:rPr lang="sl-SI" noProof="0" dirty="0"/>
              <a:t>o uporabnikovih finančnih transakcijah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Avtomatska dodelitev transakcij posameznim lokacijam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Pregled zgodovine in statistike o lokacijah in transakcijah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Vizualni prikaz</a:t>
            </a:r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CE4B07AE-AE0A-28E0-AD22-F3012FC83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165" y="731375"/>
            <a:ext cx="1371600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D4C1B62B-249C-97AC-7510-7A3DBBEE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718C63F9-3364-4636-E442-730A25CB26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Pridobitev podatkov</a:t>
            </a:r>
          </a:p>
        </p:txBody>
      </p:sp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A9FB613F-5673-8451-B390-C85A3035948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914401"/>
            <a:ext cx="3942961" cy="37840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Iz slik bančnih izpiskov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V živo z branjem SMS obvestil banke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Z nalaganjem PDF-jev na spletni vmesnik</a:t>
            </a: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79632A98-B5C9-8C6B-39D3-73E6F7D1B9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440"/>
          <a:stretch>
            <a:fillRect/>
          </a:stretch>
        </p:blipFill>
        <p:spPr>
          <a:xfrm>
            <a:off x="3198792" y="2297970"/>
            <a:ext cx="1528038" cy="2111258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5182E399-5F8D-CC51-808B-CC845EF7B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568" y="368632"/>
            <a:ext cx="3030447" cy="404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21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09F0C228-0665-656D-0F25-FD6A03386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CB4AD142-BD77-0051-7CC7-36231AA8B4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I" noProof="0" dirty="0" err="1"/>
              <a:t>Zaznavanje</a:t>
            </a:r>
            <a:r>
              <a:rPr lang="en-SI" noProof="0" dirty="0"/>
              <a:t> </a:t>
            </a:r>
            <a:r>
              <a:rPr lang="en-SI" noProof="0" dirty="0" err="1"/>
              <a:t>transakcij</a:t>
            </a:r>
            <a:r>
              <a:rPr lang="en-SI" noProof="0" dirty="0"/>
              <a:t> </a:t>
            </a:r>
            <a:r>
              <a:rPr lang="en-SI" noProof="0" dirty="0" err="1"/>
              <a:t>iz</a:t>
            </a:r>
            <a:r>
              <a:rPr lang="en-SI" noProof="0" dirty="0"/>
              <a:t> </a:t>
            </a:r>
            <a:r>
              <a:rPr lang="en-SI" noProof="0" dirty="0" err="1"/>
              <a:t>slikanih</a:t>
            </a:r>
            <a:r>
              <a:rPr lang="en-SI" noProof="0" dirty="0"/>
              <a:t> </a:t>
            </a:r>
            <a:r>
              <a:rPr lang="en-SI" noProof="0" dirty="0" err="1"/>
              <a:t>izpiskov</a:t>
            </a:r>
            <a:endParaRPr lang="sl-SI" noProof="0" dirty="0"/>
          </a:p>
        </p:txBody>
      </p:sp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F0DDD4BA-AF38-9270-FAF9-9ED32550285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924560"/>
            <a:ext cx="3162609" cy="37739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en-SI" noProof="0" dirty="0"/>
              <a:t>P</a:t>
            </a:r>
            <a:r>
              <a:rPr lang="en-SI" dirty="0" err="1"/>
              <a:t>ython</a:t>
            </a:r>
            <a:r>
              <a:rPr lang="en-SI" dirty="0"/>
              <a:t> 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en-SI" dirty="0" err="1"/>
              <a:t>Pytesseract</a:t>
            </a:r>
            <a:endParaRPr lang="en-SI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en-SI" noProof="0" dirty="0" err="1"/>
              <a:t>Obdelava</a:t>
            </a:r>
            <a:r>
              <a:rPr lang="en-SI" noProof="0" dirty="0"/>
              <a:t> </a:t>
            </a:r>
            <a:r>
              <a:rPr lang="en-SI" noProof="0" dirty="0" err="1"/>
              <a:t>podatkov</a:t>
            </a:r>
            <a:r>
              <a:rPr lang="en-SI" noProof="0" dirty="0"/>
              <a:t> z: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</a:pPr>
            <a:r>
              <a:rPr lang="sl-SI" dirty="0"/>
              <a:t>llama-3.3-70b-versatile</a:t>
            </a:r>
            <a:endParaRPr lang="en-SI" dirty="0"/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</a:pPr>
            <a:r>
              <a:rPr lang="en-SI" dirty="0" err="1"/>
              <a:t>Groq</a:t>
            </a:r>
            <a:r>
              <a:rPr lang="en-SI" dirty="0"/>
              <a:t> od OpenAI</a:t>
            </a:r>
          </a:p>
          <a:p>
            <a:pPr marL="742950" lvl="1" indent="-285750">
              <a:lnSpc>
                <a:spcPct val="100000"/>
              </a:lnSpc>
            </a:pPr>
            <a:endParaRPr lang="sl-SI" noProof="0" dirty="0"/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9E8FA0F4-1ABC-8A56-6DCC-4779D544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276" y="1043728"/>
            <a:ext cx="3400440" cy="1776730"/>
          </a:xfrm>
          <a:prstGeom prst="rect">
            <a:avLst/>
          </a:prstGeom>
        </p:spPr>
      </p:pic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77752C41-031E-727B-B595-A8BAD8241B10}"/>
              </a:ext>
            </a:extLst>
          </p:cNvPr>
          <p:cNvSpPr/>
          <p:nvPr/>
        </p:nvSpPr>
        <p:spPr>
          <a:xfrm>
            <a:off x="827296" y="3039896"/>
            <a:ext cx="949925" cy="172222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 noProof="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F72E741-C299-F329-770D-CF9E3872DE71}"/>
              </a:ext>
            </a:extLst>
          </p:cNvPr>
          <p:cNvSpPr/>
          <p:nvPr/>
        </p:nvSpPr>
        <p:spPr>
          <a:xfrm>
            <a:off x="3777473" y="2560496"/>
            <a:ext cx="852100" cy="4505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I" noProof="0" dirty="0">
                <a:cs typeface="Arial"/>
              </a:rPr>
              <a:t>Python </a:t>
            </a:r>
            <a:r>
              <a:rPr lang="en-SI" noProof="0" dirty="0" err="1">
                <a:cs typeface="Arial"/>
              </a:rPr>
              <a:t>strežnik</a:t>
            </a:r>
            <a:endParaRPr lang="sl-SI" noProof="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641948-254D-5A76-7257-56D202A795A8}"/>
              </a:ext>
            </a:extLst>
          </p:cNvPr>
          <p:cNvSpPr/>
          <p:nvPr/>
        </p:nvSpPr>
        <p:spPr>
          <a:xfrm>
            <a:off x="2377040" y="3904868"/>
            <a:ext cx="1255160" cy="4505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SI" noProof="0" dirty="0" err="1">
                <a:cs typeface="Arial"/>
              </a:rPr>
              <a:t>Obdelava</a:t>
            </a:r>
            <a:r>
              <a:rPr lang="en-SI" noProof="0" dirty="0">
                <a:cs typeface="Arial"/>
              </a:rPr>
              <a:t> z </a:t>
            </a:r>
            <a:r>
              <a:rPr lang="en-SI" noProof="0" dirty="0" err="1">
                <a:cs typeface="Arial"/>
              </a:rPr>
              <a:t>pytesseract</a:t>
            </a:r>
            <a:endParaRPr lang="sl-SI" noProof="0" dirty="0">
              <a:cs typeface="Arial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B506BF3-4C53-D4ED-4C9F-6BAD6BAD1345}"/>
              </a:ext>
            </a:extLst>
          </p:cNvPr>
          <p:cNvSpPr/>
          <p:nvPr/>
        </p:nvSpPr>
        <p:spPr>
          <a:xfrm>
            <a:off x="4192490" y="3924811"/>
            <a:ext cx="852100" cy="4505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SI" dirty="0">
                <a:cs typeface="Arial"/>
              </a:rPr>
              <a:t>llama</a:t>
            </a:r>
            <a:endParaRPr lang="sl-SI" noProof="0" dirty="0">
              <a:cs typeface="Arial"/>
            </a:endParaRPr>
          </a:p>
        </p:txBody>
      </p:sp>
      <p:cxnSp>
        <p:nvCxnSpPr>
          <p:cNvPr id="9" name="Straight Arrow Connector 6">
            <a:extLst>
              <a:ext uri="{FF2B5EF4-FFF2-40B4-BE49-F238E27FC236}">
                <a16:creationId xmlns:a16="http://schemas.microsoft.com/office/drawing/2014/main" id="{877212A1-89CF-9E40-D2D6-D2CE3D379EBE}"/>
              </a:ext>
            </a:extLst>
          </p:cNvPr>
          <p:cNvCxnSpPr/>
          <p:nvPr/>
        </p:nvCxnSpPr>
        <p:spPr>
          <a:xfrm flipV="1">
            <a:off x="1795242" y="2813356"/>
            <a:ext cx="1951338" cy="985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7">
            <a:extLst>
              <a:ext uri="{FF2B5EF4-FFF2-40B4-BE49-F238E27FC236}">
                <a16:creationId xmlns:a16="http://schemas.microsoft.com/office/drawing/2014/main" id="{AD6857AE-D419-72BA-9000-D89A03C4F300}"/>
              </a:ext>
            </a:extLst>
          </p:cNvPr>
          <p:cNvCxnSpPr>
            <a:cxnSpLocks/>
          </p:cNvCxnSpPr>
          <p:nvPr/>
        </p:nvCxnSpPr>
        <p:spPr>
          <a:xfrm flipH="1">
            <a:off x="2943391" y="3061627"/>
            <a:ext cx="803189" cy="812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8">
            <a:extLst>
              <a:ext uri="{FF2B5EF4-FFF2-40B4-BE49-F238E27FC236}">
                <a16:creationId xmlns:a16="http://schemas.microsoft.com/office/drawing/2014/main" id="{7A6BB540-4680-B589-BE2D-61425C4A9AB4}"/>
              </a:ext>
            </a:extLst>
          </p:cNvPr>
          <p:cNvCxnSpPr>
            <a:cxnSpLocks/>
          </p:cNvCxnSpPr>
          <p:nvPr/>
        </p:nvCxnSpPr>
        <p:spPr>
          <a:xfrm flipV="1">
            <a:off x="3154680" y="3102603"/>
            <a:ext cx="727929" cy="771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9">
            <a:extLst>
              <a:ext uri="{FF2B5EF4-FFF2-40B4-BE49-F238E27FC236}">
                <a16:creationId xmlns:a16="http://schemas.microsoft.com/office/drawing/2014/main" id="{3C9A1615-9CC4-7FA9-E12D-D32063ADC14D}"/>
              </a:ext>
            </a:extLst>
          </p:cNvPr>
          <p:cNvCxnSpPr>
            <a:cxnSpLocks/>
          </p:cNvCxnSpPr>
          <p:nvPr/>
        </p:nvCxnSpPr>
        <p:spPr>
          <a:xfrm>
            <a:off x="4165703" y="3140142"/>
            <a:ext cx="218690" cy="733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1">
            <a:extLst>
              <a:ext uri="{FF2B5EF4-FFF2-40B4-BE49-F238E27FC236}">
                <a16:creationId xmlns:a16="http://schemas.microsoft.com/office/drawing/2014/main" id="{9AA78434-A6CF-CE60-881D-88269ED74BC7}"/>
              </a:ext>
            </a:extLst>
          </p:cNvPr>
          <p:cNvSpPr txBox="1"/>
          <p:nvPr/>
        </p:nvSpPr>
        <p:spPr>
          <a:xfrm>
            <a:off x="832445" y="3626844"/>
            <a:ext cx="9473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sl-SI" noProof="0" dirty="0"/>
              <a:t>Android</a:t>
            </a:r>
          </a:p>
          <a:p>
            <a:pPr algn="ctr"/>
            <a:r>
              <a:rPr lang="sl-SI" noProof="0" dirty="0" err="1"/>
              <a:t>App</a:t>
            </a:r>
            <a:endParaRPr lang="sl-SI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D47A37-51C9-D944-7D5C-34D517B237BE}"/>
              </a:ext>
            </a:extLst>
          </p:cNvPr>
          <p:cNvSpPr txBox="1"/>
          <p:nvPr/>
        </p:nvSpPr>
        <p:spPr>
          <a:xfrm rot="20040000">
            <a:off x="2395443" y="2948715"/>
            <a:ext cx="81455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SI" noProof="0" dirty="0"/>
              <a:t>HTTP</a:t>
            </a:r>
            <a:endParaRPr lang="sl-SI" noProof="0" dirty="0"/>
          </a:p>
        </p:txBody>
      </p:sp>
      <p:cxnSp>
        <p:nvCxnSpPr>
          <p:cNvPr id="27" name="Straight Arrow Connector 9">
            <a:extLst>
              <a:ext uri="{FF2B5EF4-FFF2-40B4-BE49-F238E27FC236}">
                <a16:creationId xmlns:a16="http://schemas.microsoft.com/office/drawing/2014/main" id="{87ABCFDF-8324-3269-F75B-888E8D821F14}"/>
              </a:ext>
            </a:extLst>
          </p:cNvPr>
          <p:cNvCxnSpPr>
            <a:cxnSpLocks/>
          </p:cNvCxnSpPr>
          <p:nvPr/>
        </p:nvCxnSpPr>
        <p:spPr>
          <a:xfrm flipH="1" flipV="1">
            <a:off x="4320539" y="3140142"/>
            <a:ext cx="195581" cy="695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4">
            <a:extLst>
              <a:ext uri="{FF2B5EF4-FFF2-40B4-BE49-F238E27FC236}">
                <a16:creationId xmlns:a16="http://schemas.microsoft.com/office/drawing/2014/main" id="{C51A957D-9430-FCCB-9CA3-60D82BAC7515}"/>
              </a:ext>
            </a:extLst>
          </p:cNvPr>
          <p:cNvSpPr/>
          <p:nvPr/>
        </p:nvSpPr>
        <p:spPr>
          <a:xfrm>
            <a:off x="5301204" y="3262518"/>
            <a:ext cx="852100" cy="4505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SI" dirty="0" err="1">
                <a:cs typeface="Arial"/>
              </a:rPr>
              <a:t>Spletna</a:t>
            </a:r>
            <a:r>
              <a:rPr lang="en-SI" dirty="0">
                <a:cs typeface="Arial"/>
              </a:rPr>
              <a:t> </a:t>
            </a:r>
            <a:r>
              <a:rPr lang="en-SI" dirty="0" err="1">
                <a:cs typeface="Arial"/>
              </a:rPr>
              <a:t>storitev</a:t>
            </a:r>
            <a:endParaRPr lang="sl-SI" noProof="0" dirty="0">
              <a:cs typeface="Arial"/>
            </a:endParaRPr>
          </a:p>
        </p:txBody>
      </p:sp>
      <p:cxnSp>
        <p:nvCxnSpPr>
          <p:cNvPr id="35" name="Straight Arrow Connector 9">
            <a:extLst>
              <a:ext uri="{FF2B5EF4-FFF2-40B4-BE49-F238E27FC236}">
                <a16:creationId xmlns:a16="http://schemas.microsoft.com/office/drawing/2014/main" id="{380714E1-CC31-6FF2-15C6-7AD02134CA31}"/>
              </a:ext>
            </a:extLst>
          </p:cNvPr>
          <p:cNvCxnSpPr>
            <a:cxnSpLocks/>
          </p:cNvCxnSpPr>
          <p:nvPr/>
        </p:nvCxnSpPr>
        <p:spPr>
          <a:xfrm>
            <a:off x="4709160" y="2947510"/>
            <a:ext cx="552233" cy="420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PoljeZBesedilom 40">
            <a:extLst>
              <a:ext uri="{FF2B5EF4-FFF2-40B4-BE49-F238E27FC236}">
                <a16:creationId xmlns:a16="http://schemas.microsoft.com/office/drawing/2014/main" id="{C9EAA6CC-AD69-E133-AA62-80DD4585B741}"/>
              </a:ext>
            </a:extLst>
          </p:cNvPr>
          <p:cNvSpPr txBox="1"/>
          <p:nvPr/>
        </p:nvSpPr>
        <p:spPr>
          <a:xfrm rot="18962374">
            <a:off x="2965827" y="3232143"/>
            <a:ext cx="571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I" dirty="0" err="1"/>
              <a:t>Slika</a:t>
            </a:r>
            <a:endParaRPr lang="sl-SI" dirty="0"/>
          </a:p>
        </p:txBody>
      </p:sp>
      <p:sp>
        <p:nvSpPr>
          <p:cNvPr id="42" name="PoljeZBesedilom 41">
            <a:extLst>
              <a:ext uri="{FF2B5EF4-FFF2-40B4-BE49-F238E27FC236}">
                <a16:creationId xmlns:a16="http://schemas.microsoft.com/office/drawing/2014/main" id="{87F3F1B4-192F-8300-0689-256B3E028F7D}"/>
              </a:ext>
            </a:extLst>
          </p:cNvPr>
          <p:cNvSpPr txBox="1"/>
          <p:nvPr/>
        </p:nvSpPr>
        <p:spPr>
          <a:xfrm rot="18788745">
            <a:off x="3386992" y="3336177"/>
            <a:ext cx="574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I" dirty="0"/>
              <a:t>Niz</a:t>
            </a:r>
            <a:endParaRPr lang="sl-SI" dirty="0"/>
          </a:p>
        </p:txBody>
      </p:sp>
      <p:sp>
        <p:nvSpPr>
          <p:cNvPr id="43" name="PoljeZBesedilom 42">
            <a:extLst>
              <a:ext uri="{FF2B5EF4-FFF2-40B4-BE49-F238E27FC236}">
                <a16:creationId xmlns:a16="http://schemas.microsoft.com/office/drawing/2014/main" id="{A91ACFA4-41F5-6ABF-8309-3C035FB4472F}"/>
              </a:ext>
            </a:extLst>
          </p:cNvPr>
          <p:cNvSpPr txBox="1"/>
          <p:nvPr/>
        </p:nvSpPr>
        <p:spPr>
          <a:xfrm rot="4366398">
            <a:off x="3890607" y="3446848"/>
            <a:ext cx="574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I" dirty="0"/>
              <a:t>Niz</a:t>
            </a:r>
            <a:endParaRPr lang="sl-SI" dirty="0"/>
          </a:p>
        </p:txBody>
      </p:sp>
      <p:sp>
        <p:nvSpPr>
          <p:cNvPr id="44" name="PoljeZBesedilom 43">
            <a:extLst>
              <a:ext uri="{FF2B5EF4-FFF2-40B4-BE49-F238E27FC236}">
                <a16:creationId xmlns:a16="http://schemas.microsoft.com/office/drawing/2014/main" id="{FA78E155-0458-2206-5D0E-19DD13A51990}"/>
              </a:ext>
            </a:extLst>
          </p:cNvPr>
          <p:cNvSpPr txBox="1"/>
          <p:nvPr/>
        </p:nvSpPr>
        <p:spPr>
          <a:xfrm rot="4396564">
            <a:off x="4250767" y="3326020"/>
            <a:ext cx="574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I" dirty="0"/>
              <a:t>Json</a:t>
            </a:r>
            <a:endParaRPr lang="sl-SI" dirty="0"/>
          </a:p>
        </p:txBody>
      </p:sp>
      <p:sp>
        <p:nvSpPr>
          <p:cNvPr id="45" name="PoljeZBesedilom 44">
            <a:extLst>
              <a:ext uri="{FF2B5EF4-FFF2-40B4-BE49-F238E27FC236}">
                <a16:creationId xmlns:a16="http://schemas.microsoft.com/office/drawing/2014/main" id="{529491CC-CC25-9EAF-C365-709D80D9CE3B}"/>
              </a:ext>
            </a:extLst>
          </p:cNvPr>
          <p:cNvSpPr txBox="1"/>
          <p:nvPr/>
        </p:nvSpPr>
        <p:spPr>
          <a:xfrm rot="2282238">
            <a:off x="4689004" y="2881117"/>
            <a:ext cx="715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I" dirty="0"/>
              <a:t>MQTT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518013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311CF7F0-2AC6-02B9-4E72-D13C1499C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DD9B7769-E3A6-3D7F-A676-A4C9C6EAA1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Spletni vmesnik</a:t>
            </a:r>
          </a:p>
        </p:txBody>
      </p:sp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412F5D42-B8B7-AF1C-237E-DFFE1F8D0D6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1" y="889001"/>
            <a:ext cx="3071647" cy="38094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 err="1"/>
              <a:t>Avtentikacija</a:t>
            </a:r>
            <a:r>
              <a:rPr lang="sl-SI" noProof="0" dirty="0"/>
              <a:t> z uporabo JWT žetonov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Prikaz podrobne statistike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Napredno filtriranje podatkov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Prikaz lokacij na zemljevidu skozi čas in z uporabo “</a:t>
            </a:r>
            <a:r>
              <a:rPr lang="sl-SI" noProof="0" dirty="0" err="1"/>
              <a:t>Heatmap</a:t>
            </a:r>
            <a:r>
              <a:rPr lang="sl-SI" noProof="0" dirty="0"/>
              <a:t>”.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F4EE8698-D728-A15D-5EAF-0D98674D2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147" y="334658"/>
            <a:ext cx="4457852" cy="2202703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9613255F-7761-C70C-E3E8-0C0915A71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146" y="2569432"/>
            <a:ext cx="4457852" cy="2237667"/>
          </a:xfrm>
          <a:prstGeom prst="rect">
            <a:avLst/>
          </a:prstGeom>
        </p:spPr>
      </p:pic>
      <p:sp>
        <p:nvSpPr>
          <p:cNvPr id="8" name="Google Shape;295;p34">
            <a:extLst>
              <a:ext uri="{FF2B5EF4-FFF2-40B4-BE49-F238E27FC236}">
                <a16:creationId xmlns:a16="http://schemas.microsoft.com/office/drawing/2014/main" id="{7E9E3FEC-BBE5-0F39-8D77-22A33FEFC1C2}"/>
              </a:ext>
            </a:extLst>
          </p:cNvPr>
          <p:cNvSpPr txBox="1">
            <a:spLocks/>
          </p:cNvSpPr>
          <p:nvPr/>
        </p:nvSpPr>
        <p:spPr>
          <a:xfrm>
            <a:off x="720000" y="278049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sl-SI" noProof="0" dirty="0"/>
              <a:t>Spletna storitev</a:t>
            </a:r>
          </a:p>
        </p:txBody>
      </p:sp>
      <p:sp>
        <p:nvSpPr>
          <p:cNvPr id="9" name="Google Shape;296;p34">
            <a:extLst>
              <a:ext uri="{FF2B5EF4-FFF2-40B4-BE49-F238E27FC236}">
                <a16:creationId xmlns:a16="http://schemas.microsoft.com/office/drawing/2014/main" id="{1E5F94A1-9395-24F8-0863-E962A38A75FD}"/>
              </a:ext>
            </a:extLst>
          </p:cNvPr>
          <p:cNvSpPr txBox="1">
            <a:spLocks/>
          </p:cNvSpPr>
          <p:nvPr/>
        </p:nvSpPr>
        <p:spPr>
          <a:xfrm>
            <a:off x="720001" y="3246120"/>
            <a:ext cx="3071647" cy="1601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Express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Integracija ostalih aplikacij z uporabo MQTT</a:t>
            </a:r>
            <a:r>
              <a:rPr lang="en-SI" dirty="0"/>
              <a:t> in HTTP</a:t>
            </a:r>
            <a:endParaRPr lang="sl-SI" noProof="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Shranjevanje podatkov </a:t>
            </a:r>
            <a:r>
              <a:rPr lang="en-SI" noProof="0" dirty="0"/>
              <a:t>v </a:t>
            </a:r>
            <a:r>
              <a:rPr lang="sl-SI" noProof="0" dirty="0" err="1"/>
              <a:t>MongoDB</a:t>
            </a:r>
            <a:endParaRPr lang="sl-SI" noProof="0" dirty="0"/>
          </a:p>
        </p:txBody>
      </p:sp>
    </p:spTree>
    <p:extLst>
      <p:ext uri="{BB962C8B-B14F-4D97-AF65-F5344CB8AC3E}">
        <p14:creationId xmlns:p14="http://schemas.microsoft.com/office/powerpoint/2010/main" val="1891903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AF2C21DF-B87A-F0E7-C2BF-2D365CE1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8FD38634-0320-0776-821E-EC44E7A8C4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Vizualizacija podatkov</a:t>
            </a:r>
          </a:p>
        </p:txBody>
      </p:sp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4856B7E9-C301-D4C2-A301-6F3CF84282D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036799"/>
            <a:ext cx="2757242" cy="3661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l-SI" noProof="0" dirty="0"/>
              <a:t>Aplikacija omogoča realno-časovno vizualizacijo uporabnikovih transakcij.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 err="1"/>
              <a:t>LibGDX</a:t>
            </a:r>
            <a:endParaRPr lang="sl-SI" noProof="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 err="1"/>
              <a:t>Mapbox</a:t>
            </a:r>
            <a:r>
              <a:rPr lang="sl-SI" noProof="0" dirty="0"/>
              <a:t> API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Povezava z zaledjem preko HTTP in prejemanje </a:t>
            </a:r>
            <a:r>
              <a:rPr lang="sl-SI" dirty="0"/>
              <a:t>realno-</a:t>
            </a:r>
            <a:r>
              <a:rPr lang="sl-SI" dirty="0" err="1"/>
              <a:t>časovn</a:t>
            </a:r>
            <a:r>
              <a:rPr lang="en-SI" dirty="0" err="1"/>
              <a:t>ih</a:t>
            </a:r>
            <a:r>
              <a:rPr lang="en-SI" dirty="0"/>
              <a:t> </a:t>
            </a:r>
            <a:r>
              <a:rPr lang="en-SI" dirty="0" err="1"/>
              <a:t>ali</a:t>
            </a:r>
            <a:r>
              <a:rPr lang="en-SI" dirty="0"/>
              <a:t> </a:t>
            </a:r>
            <a:r>
              <a:rPr lang="en-SI" dirty="0" err="1"/>
              <a:t>simuliranih</a:t>
            </a:r>
            <a:r>
              <a:rPr lang="sl-SI" dirty="0"/>
              <a:t> </a:t>
            </a:r>
            <a:r>
              <a:rPr lang="sl-SI" noProof="0" dirty="0"/>
              <a:t>dogodkov z MQTT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F7746999-3C7E-D392-67BA-DB9BDD66F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503" y="1198454"/>
            <a:ext cx="5400226" cy="290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14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0E4E0332-4BA2-CB54-B7BB-3C41E38F6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C9328468-79D5-D138-CA60-F22E1C3224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Vizualizacija podatkov</a:t>
            </a:r>
          </a:p>
        </p:txBody>
      </p:sp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974851BB-8910-504B-60D2-80867111114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1" y="1036799"/>
            <a:ext cx="3172184" cy="3661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l-SI" noProof="0" dirty="0"/>
              <a:t>Napredne funkcionalnosti: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Prikaz podrobnejših podatkov o lokaciji ob kliku</a:t>
            </a:r>
            <a:endParaRPr lang="en-SI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Animirane</a:t>
            </a:r>
            <a:r>
              <a:rPr lang="en-SI" noProof="0" dirty="0"/>
              <a:t> </a:t>
            </a:r>
            <a:r>
              <a:rPr lang="sl-SI" noProof="0" dirty="0"/>
              <a:t>spremembe podatkov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Omogoča neomejeno premikanje v vse smeri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Lokalno nalaganje ploščic zemljevida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Filtriranje podatkov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12E07B19-9112-B2AA-62E1-99640A027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076" y="1075175"/>
            <a:ext cx="2476625" cy="3498159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45A5EBB8-0996-7552-F63A-05B3D3425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974" y="2747969"/>
            <a:ext cx="1146737" cy="1790520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EA64DB32-21C2-0752-F8B3-A8F989BBF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1018" y="387575"/>
            <a:ext cx="1143693" cy="222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761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2E7805EF-D6EE-FA01-3A76-B9E7E4CA5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9E2867FE-AC53-201D-1A9C-581327183F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Vizualizacija podatkov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2576007-03B0-A5BE-F3A6-83A44CD02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27" y="1055770"/>
            <a:ext cx="6726346" cy="364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480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CB5816C0-15ED-D89C-DDBA-ECA833885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16940046-2739-DB5A-A06C-7031B21D39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Vizualizacija podatkov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F2E6AF85-2666-0812-D7B6-5D6344B65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443" y="1054746"/>
            <a:ext cx="6555114" cy="368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819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61722F6C-4A02-CE5F-C695-8B60DBC60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95AFFDCD-EA01-53DE-7FFB-D6F588F36A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Mobilna aplikacija</a:t>
            </a:r>
          </a:p>
        </p:txBody>
      </p:sp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68D5E688-EC5A-CEFA-141F-4311930B716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036799"/>
            <a:ext cx="3162609" cy="3661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l-SI" noProof="0" dirty="0"/>
              <a:t>Omogoča zajemanje podatkov iz telefona in simulacijo podatkov.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en-SI" noProof="0" dirty="0" err="1"/>
              <a:t>Protokola</a:t>
            </a:r>
            <a:r>
              <a:rPr lang="en-SI" noProof="0" dirty="0"/>
              <a:t> </a:t>
            </a:r>
            <a:r>
              <a:rPr lang="sl-SI" noProof="0" dirty="0"/>
              <a:t>MQTT in HTTP </a:t>
            </a:r>
            <a:endParaRPr lang="en-SI" noProof="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en-SI" dirty="0" err="1"/>
              <a:t>Omogoča</a:t>
            </a:r>
            <a:r>
              <a:rPr lang="en-SI" dirty="0"/>
              <a:t> </a:t>
            </a:r>
            <a:r>
              <a:rPr lang="en-SI" dirty="0" err="1"/>
              <a:t>pošiljanje</a:t>
            </a:r>
            <a:r>
              <a:rPr lang="en-SI" dirty="0"/>
              <a:t> </a:t>
            </a:r>
            <a:r>
              <a:rPr lang="en-SI" dirty="0" err="1"/>
              <a:t>slik</a:t>
            </a:r>
            <a:r>
              <a:rPr lang="en-SI" dirty="0"/>
              <a:t> </a:t>
            </a:r>
            <a:r>
              <a:rPr lang="en-SI" dirty="0" err="1"/>
              <a:t>izpiskov</a:t>
            </a:r>
            <a:r>
              <a:rPr lang="en-SI" dirty="0"/>
              <a:t> </a:t>
            </a:r>
            <a:r>
              <a:rPr lang="en-SI" dirty="0" err="1"/>
              <a:t>na</a:t>
            </a:r>
            <a:r>
              <a:rPr lang="en-SI" dirty="0"/>
              <a:t> </a:t>
            </a:r>
            <a:r>
              <a:rPr lang="en-SI" dirty="0" err="1"/>
              <a:t>strežnik</a:t>
            </a:r>
            <a:r>
              <a:rPr lang="en-SI" dirty="0"/>
              <a:t> za </a:t>
            </a:r>
            <a:r>
              <a:rPr lang="en-SI" dirty="0" err="1"/>
              <a:t>razpoznavanje</a:t>
            </a:r>
            <a:endParaRPr lang="sl-SI" noProof="0" dirty="0"/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836F2FF9-D0C3-72EE-97C4-5A49A1845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307" y="431560"/>
            <a:ext cx="2047480" cy="4200375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F0ABAC2E-43C0-FCC4-74B6-3E3433D04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870" y="431560"/>
            <a:ext cx="2075861" cy="4200375"/>
          </a:xfrm>
          <a:prstGeom prst="rect">
            <a:avLst/>
          </a:prstGeom>
        </p:spPr>
      </p:pic>
      <p:cxnSp>
        <p:nvCxnSpPr>
          <p:cNvPr id="9" name="Raven puščični povezovalnik 8">
            <a:extLst>
              <a:ext uri="{FF2B5EF4-FFF2-40B4-BE49-F238E27FC236}">
                <a16:creationId xmlns:a16="http://schemas.microsoft.com/office/drawing/2014/main" id="{1B4A73E3-57B3-7746-6F35-29D068CEE8A8}"/>
              </a:ext>
            </a:extLst>
          </p:cNvPr>
          <p:cNvCxnSpPr>
            <a:cxnSpLocks/>
          </p:cNvCxnSpPr>
          <p:nvPr/>
        </p:nvCxnSpPr>
        <p:spPr>
          <a:xfrm flipV="1">
            <a:off x="5917269" y="3954421"/>
            <a:ext cx="535601" cy="2872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119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CD8CBA03-DDB2-1602-9675-238D298AC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77E5C821-43CB-1D88-E5A3-39E5112D5D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4676" y="512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I" dirty="0" err="1"/>
              <a:t>Simuliranje</a:t>
            </a:r>
            <a:r>
              <a:rPr lang="en-SI" dirty="0"/>
              <a:t> </a:t>
            </a:r>
            <a:r>
              <a:rPr lang="en-SI" dirty="0" err="1"/>
              <a:t>podatkov</a:t>
            </a:r>
            <a:endParaRPr lang="sl-SI" noProof="0" dirty="0"/>
          </a:p>
        </p:txBody>
      </p:sp>
      <p:sp>
        <p:nvSpPr>
          <p:cNvPr id="12" name="Google Shape;296;p34">
            <a:extLst>
              <a:ext uri="{FF2B5EF4-FFF2-40B4-BE49-F238E27FC236}">
                <a16:creationId xmlns:a16="http://schemas.microsoft.com/office/drawing/2014/main" id="{E8CFE856-2EFB-B897-D504-1FD9135F25AD}"/>
              </a:ext>
            </a:extLst>
          </p:cNvPr>
          <p:cNvSpPr txBox="1">
            <a:spLocks/>
          </p:cNvSpPr>
          <p:nvPr/>
        </p:nvSpPr>
        <p:spPr>
          <a:xfrm>
            <a:off x="720000" y="944881"/>
            <a:ext cx="3162609" cy="3753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en-SI" dirty="0" err="1"/>
              <a:t>Različne</a:t>
            </a:r>
            <a:r>
              <a:rPr lang="en-SI" dirty="0"/>
              <a:t> </a:t>
            </a:r>
            <a:r>
              <a:rPr lang="en-SI" dirty="0" err="1"/>
              <a:t>možnosti</a:t>
            </a:r>
            <a:r>
              <a:rPr lang="en-SI" dirty="0"/>
              <a:t> </a:t>
            </a:r>
            <a:r>
              <a:rPr lang="en-SI" dirty="0" err="1"/>
              <a:t>generiranja</a:t>
            </a:r>
            <a:endParaRPr lang="en-SI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en-SI" dirty="0" err="1"/>
              <a:t>Omogoča</a:t>
            </a:r>
            <a:r>
              <a:rPr lang="en-SI" dirty="0"/>
              <a:t> </a:t>
            </a:r>
            <a:r>
              <a:rPr lang="en-SI" dirty="0" err="1"/>
              <a:t>izbiro</a:t>
            </a:r>
            <a:r>
              <a:rPr lang="en-SI" dirty="0"/>
              <a:t> </a:t>
            </a:r>
            <a:r>
              <a:rPr lang="en-SI" dirty="0" err="1"/>
              <a:t>posameznih</a:t>
            </a:r>
            <a:r>
              <a:rPr lang="en-SI" dirty="0"/>
              <a:t> </a:t>
            </a:r>
            <a:r>
              <a:rPr lang="en-SI" dirty="0" err="1"/>
              <a:t>lokacij</a:t>
            </a:r>
            <a:endParaRPr lang="en-SI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en-SI" dirty="0" err="1"/>
              <a:t>Poslano</a:t>
            </a:r>
            <a:r>
              <a:rPr lang="en-SI" dirty="0"/>
              <a:t> </a:t>
            </a:r>
            <a:r>
              <a:rPr lang="en-SI" dirty="0" err="1"/>
              <a:t>preko</a:t>
            </a:r>
            <a:r>
              <a:rPr lang="en-SI" dirty="0"/>
              <a:t> MQTT za </a:t>
            </a:r>
            <a:r>
              <a:rPr lang="en-SI" dirty="0" err="1"/>
              <a:t>prikaz</a:t>
            </a:r>
            <a:r>
              <a:rPr lang="en-SI" dirty="0"/>
              <a:t> </a:t>
            </a:r>
            <a:r>
              <a:rPr lang="en-SI" dirty="0" err="1"/>
              <a:t>na</a:t>
            </a:r>
            <a:r>
              <a:rPr lang="en-SI" dirty="0"/>
              <a:t> </a:t>
            </a:r>
            <a:r>
              <a:rPr lang="en-SI" dirty="0" err="1"/>
              <a:t>zemljevidu</a:t>
            </a:r>
            <a:endParaRPr lang="sl-SI" dirty="0"/>
          </a:p>
        </p:txBody>
      </p:sp>
      <p:pic>
        <p:nvPicPr>
          <p:cNvPr id="14" name="Slika 13">
            <a:extLst>
              <a:ext uri="{FF2B5EF4-FFF2-40B4-BE49-F238E27FC236}">
                <a16:creationId xmlns:a16="http://schemas.microsoft.com/office/drawing/2014/main" id="{6FCD6399-FA0F-5C20-16CA-38BF4DE9C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45766"/>
            <a:ext cx="2015510" cy="4239522"/>
          </a:xfrm>
          <a:prstGeom prst="rect">
            <a:avLst/>
          </a:prstGeom>
        </p:spPr>
      </p:pic>
      <p:cxnSp>
        <p:nvCxnSpPr>
          <p:cNvPr id="7" name="Raven puščični povezovalnik 6">
            <a:extLst>
              <a:ext uri="{FF2B5EF4-FFF2-40B4-BE49-F238E27FC236}">
                <a16:creationId xmlns:a16="http://schemas.microsoft.com/office/drawing/2014/main" id="{9BC8AD20-4A9A-EF38-8CD6-17C16BFEB39C}"/>
              </a:ext>
            </a:extLst>
          </p:cNvPr>
          <p:cNvCxnSpPr>
            <a:cxnSpLocks/>
          </p:cNvCxnSpPr>
          <p:nvPr/>
        </p:nvCxnSpPr>
        <p:spPr>
          <a:xfrm>
            <a:off x="6338563" y="1895824"/>
            <a:ext cx="672913" cy="383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8" name="Slika 17">
            <a:extLst>
              <a:ext uri="{FF2B5EF4-FFF2-40B4-BE49-F238E27FC236}">
                <a16:creationId xmlns:a16="http://schemas.microsoft.com/office/drawing/2014/main" id="{462BF3A5-404F-1686-2056-EBF5B1DDE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838" y="854557"/>
            <a:ext cx="1534189" cy="343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583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BBA1A5F3-09B4-A9F8-4677-41A2929B3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A12EAA8D-4030-37F9-1CD1-1A9335C65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4676" y="512050"/>
            <a:ext cx="389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I" dirty="0" err="1"/>
              <a:t>Ročno</a:t>
            </a:r>
            <a:r>
              <a:rPr lang="en-SI" dirty="0"/>
              <a:t> </a:t>
            </a:r>
            <a:r>
              <a:rPr lang="en-SI" dirty="0" err="1"/>
              <a:t>ustvarjanje</a:t>
            </a:r>
            <a:r>
              <a:rPr lang="en-SI" dirty="0"/>
              <a:t> </a:t>
            </a:r>
            <a:r>
              <a:rPr lang="en-SI" dirty="0" err="1"/>
              <a:t>transakcij</a:t>
            </a:r>
            <a:endParaRPr lang="sl-SI" noProof="0" dirty="0"/>
          </a:p>
        </p:txBody>
      </p:sp>
      <p:sp>
        <p:nvSpPr>
          <p:cNvPr id="12" name="Google Shape;296;p34">
            <a:extLst>
              <a:ext uri="{FF2B5EF4-FFF2-40B4-BE49-F238E27FC236}">
                <a16:creationId xmlns:a16="http://schemas.microsoft.com/office/drawing/2014/main" id="{E3003672-C564-8D21-ABB9-9B65D55BC6F1}"/>
              </a:ext>
            </a:extLst>
          </p:cNvPr>
          <p:cNvSpPr txBox="1">
            <a:spLocks/>
          </p:cNvSpPr>
          <p:nvPr/>
        </p:nvSpPr>
        <p:spPr>
          <a:xfrm>
            <a:off x="720000" y="1422400"/>
            <a:ext cx="3162609" cy="3276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en-SI" dirty="0"/>
              <a:t>Na </a:t>
            </a:r>
            <a:r>
              <a:rPr lang="en-SI" dirty="0" err="1"/>
              <a:t>že</a:t>
            </a:r>
            <a:r>
              <a:rPr lang="en-SI" dirty="0"/>
              <a:t> </a:t>
            </a:r>
            <a:r>
              <a:rPr lang="en-SI" dirty="0" err="1"/>
              <a:t>obstoječi</a:t>
            </a:r>
            <a:r>
              <a:rPr lang="en-SI" dirty="0"/>
              <a:t> </a:t>
            </a:r>
            <a:r>
              <a:rPr lang="en-SI" dirty="0" err="1"/>
              <a:t>lokaciji</a:t>
            </a:r>
            <a:r>
              <a:rPr lang="en-SI" dirty="0"/>
              <a:t> </a:t>
            </a:r>
            <a:r>
              <a:rPr lang="en-SI" dirty="0" err="1"/>
              <a:t>ali</a:t>
            </a:r>
            <a:r>
              <a:rPr lang="en-SI" dirty="0"/>
              <a:t> pa </a:t>
            </a:r>
            <a:r>
              <a:rPr lang="en-SI" dirty="0" err="1"/>
              <a:t>kjerkoli</a:t>
            </a:r>
            <a:r>
              <a:rPr lang="en-SI" dirty="0"/>
              <a:t> </a:t>
            </a:r>
            <a:r>
              <a:rPr lang="en-SI" dirty="0" err="1"/>
              <a:t>na</a:t>
            </a:r>
            <a:r>
              <a:rPr lang="en-SI" dirty="0"/>
              <a:t> </a:t>
            </a:r>
            <a:r>
              <a:rPr lang="en-SI" dirty="0" err="1"/>
              <a:t>zemljevidu</a:t>
            </a:r>
            <a:endParaRPr lang="en-SI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en-SI" dirty="0" err="1"/>
              <a:t>Poslana</a:t>
            </a:r>
            <a:r>
              <a:rPr lang="en-SI" dirty="0"/>
              <a:t> </a:t>
            </a:r>
            <a:r>
              <a:rPr lang="en-SI" dirty="0" err="1"/>
              <a:t>na</a:t>
            </a:r>
            <a:r>
              <a:rPr lang="en-SI" dirty="0"/>
              <a:t> blockchain in za </a:t>
            </a:r>
            <a:r>
              <a:rPr lang="en-SI" dirty="0" err="1"/>
              <a:t>prikaz</a:t>
            </a:r>
            <a:r>
              <a:rPr lang="en-SI" dirty="0"/>
              <a:t> </a:t>
            </a:r>
            <a:r>
              <a:rPr lang="en-SI" dirty="0" err="1"/>
              <a:t>na</a:t>
            </a:r>
            <a:r>
              <a:rPr lang="en-SI" dirty="0"/>
              <a:t> </a:t>
            </a:r>
            <a:r>
              <a:rPr lang="en-SI" dirty="0" err="1"/>
              <a:t>zemljevidu</a:t>
            </a:r>
            <a:endParaRPr lang="sl-SI" dirty="0"/>
          </a:p>
        </p:txBody>
      </p:sp>
      <p:cxnSp>
        <p:nvCxnSpPr>
          <p:cNvPr id="7" name="Raven puščični povezovalnik 6">
            <a:extLst>
              <a:ext uri="{FF2B5EF4-FFF2-40B4-BE49-F238E27FC236}">
                <a16:creationId xmlns:a16="http://schemas.microsoft.com/office/drawing/2014/main" id="{83F4DEB5-3C97-C99A-E1FD-1F8154AD1C20}"/>
              </a:ext>
            </a:extLst>
          </p:cNvPr>
          <p:cNvCxnSpPr>
            <a:cxnSpLocks/>
          </p:cNvCxnSpPr>
          <p:nvPr/>
        </p:nvCxnSpPr>
        <p:spPr>
          <a:xfrm>
            <a:off x="5945994" y="1350056"/>
            <a:ext cx="713328" cy="1244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3" name="Slika 12">
            <a:extLst>
              <a:ext uri="{FF2B5EF4-FFF2-40B4-BE49-F238E27FC236}">
                <a16:creationId xmlns:a16="http://schemas.microsoft.com/office/drawing/2014/main" id="{39114FD4-AE11-E454-E4FE-8C1D6970C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215" y="561628"/>
            <a:ext cx="1793793" cy="4020243"/>
          </a:xfrm>
          <a:prstGeom prst="rect">
            <a:avLst/>
          </a:prstGeom>
        </p:spPr>
      </p:pic>
      <p:pic>
        <p:nvPicPr>
          <p:cNvPr id="16" name="Slika 15">
            <a:extLst>
              <a:ext uri="{FF2B5EF4-FFF2-40B4-BE49-F238E27FC236}">
                <a16:creationId xmlns:a16="http://schemas.microsoft.com/office/drawing/2014/main" id="{A12C6FEE-3EC8-DA85-1667-B64AEBB23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531" y="561628"/>
            <a:ext cx="1793793" cy="402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264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52174BD6-EA1C-D910-5A18-0D2F5B22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C846B8A8-A27D-9C26-DA4B-A812A00EEB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Shranjevanje v </a:t>
            </a:r>
            <a:r>
              <a:rPr lang="sl-SI" noProof="0" dirty="0" err="1"/>
              <a:t>blockchain</a:t>
            </a:r>
            <a:endParaRPr lang="sl-SI" noProof="0" dirty="0"/>
          </a:p>
        </p:txBody>
      </p:sp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687C87FC-1CB7-EF1B-8FB6-7968DF91468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909321"/>
            <a:ext cx="6152288" cy="37891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en-SI" noProof="0" dirty="0"/>
              <a:t>Python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en-SI" noProof="0" dirty="0"/>
              <a:t>Server </a:t>
            </a:r>
            <a:r>
              <a:rPr lang="en-SI" noProof="0" dirty="0" err="1"/>
              <a:t>sprejema</a:t>
            </a:r>
            <a:r>
              <a:rPr lang="en-SI" noProof="0" dirty="0"/>
              <a:t> </a:t>
            </a:r>
            <a:r>
              <a:rPr lang="en-SI" noProof="0" dirty="0" err="1"/>
              <a:t>naloge</a:t>
            </a:r>
            <a:r>
              <a:rPr lang="en-SI" noProof="0" dirty="0"/>
              <a:t> </a:t>
            </a:r>
            <a:r>
              <a:rPr lang="sl-SI" noProof="0" dirty="0"/>
              <a:t>in jih shrani v vrsto, iz katere jih nato razpošlje vsem delavcem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</a:pPr>
            <a:r>
              <a:rPr lang="sl-SI" noProof="0" dirty="0"/>
              <a:t>Shranjujemo podatke o izjemnih dogodkih in podatke ki jih periodično pošilja mobilna aplikacija.</a:t>
            </a:r>
          </a:p>
          <a:p>
            <a:pPr marL="0" indent="0">
              <a:lnSpc>
                <a:spcPct val="100000"/>
              </a:lnSpc>
              <a:buNone/>
            </a:pPr>
            <a:endParaRPr lang="sl-SI" noProof="0" dirty="0"/>
          </a:p>
        </p:txBody>
      </p:sp>
      <p:sp>
        <p:nvSpPr>
          <p:cNvPr id="5" name="Rectangle: Rounded Corners 1">
            <a:extLst>
              <a:ext uri="{FF2B5EF4-FFF2-40B4-BE49-F238E27FC236}">
                <a16:creationId xmlns:a16="http://schemas.microsoft.com/office/drawing/2014/main" id="{7DE3F640-FB84-A845-9474-DA3BA95EC0B5}"/>
              </a:ext>
            </a:extLst>
          </p:cNvPr>
          <p:cNvSpPr/>
          <p:nvPr/>
        </p:nvSpPr>
        <p:spPr>
          <a:xfrm>
            <a:off x="2549417" y="2862069"/>
            <a:ext cx="949925" cy="172222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l-SI" noProof="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3C6342C-27B2-85A0-DB74-18B00C37DDB4}"/>
              </a:ext>
            </a:extLst>
          </p:cNvPr>
          <p:cNvSpPr/>
          <p:nvPr/>
        </p:nvSpPr>
        <p:spPr>
          <a:xfrm>
            <a:off x="5499594" y="2408987"/>
            <a:ext cx="852100" cy="4505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l-SI" noProof="0" dirty="0">
                <a:cs typeface="Arial"/>
              </a:rPr>
              <a:t>Glavno vozlišče</a:t>
            </a:r>
            <a:endParaRPr lang="sl-SI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6DC64BE-7E6B-E8EE-2E04-68BE6B208F4F}"/>
              </a:ext>
            </a:extLst>
          </p:cNvPr>
          <p:cNvSpPr/>
          <p:nvPr/>
        </p:nvSpPr>
        <p:spPr>
          <a:xfrm>
            <a:off x="4099161" y="3727041"/>
            <a:ext cx="852100" cy="4505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sl-SI" noProof="0" dirty="0">
                <a:cs typeface="Arial"/>
              </a:rPr>
              <a:t>Delavec 1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D3E5959-2345-7B20-0764-26158C02D58D}"/>
              </a:ext>
            </a:extLst>
          </p:cNvPr>
          <p:cNvSpPr/>
          <p:nvPr/>
        </p:nvSpPr>
        <p:spPr>
          <a:xfrm>
            <a:off x="5499594" y="3728571"/>
            <a:ext cx="852100" cy="4505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sl-SI" noProof="0" dirty="0">
                <a:cs typeface="Arial"/>
              </a:rPr>
              <a:t>Delavec 2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4E33523-5549-6A18-B495-AB6CCC14617B}"/>
              </a:ext>
            </a:extLst>
          </p:cNvPr>
          <p:cNvSpPr/>
          <p:nvPr/>
        </p:nvSpPr>
        <p:spPr>
          <a:xfrm>
            <a:off x="6900025" y="3727041"/>
            <a:ext cx="852100" cy="45050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sl-SI" noProof="0" dirty="0">
                <a:cs typeface="Arial"/>
              </a:rPr>
              <a:t>Delavec</a:t>
            </a:r>
          </a:p>
          <a:p>
            <a:pPr algn="ctr"/>
            <a:r>
              <a:rPr lang="sl-SI" noProof="0" dirty="0">
                <a:cs typeface="Arial"/>
              </a:rPr>
              <a:t>3</a:t>
            </a:r>
          </a:p>
        </p:txBody>
      </p:sp>
      <p:cxnSp>
        <p:nvCxnSpPr>
          <p:cNvPr id="10" name="Straight Arrow Connector 6">
            <a:extLst>
              <a:ext uri="{FF2B5EF4-FFF2-40B4-BE49-F238E27FC236}">
                <a16:creationId xmlns:a16="http://schemas.microsoft.com/office/drawing/2014/main" id="{1F7E69B9-E317-ECD5-A709-F3F177B3108B}"/>
              </a:ext>
            </a:extLst>
          </p:cNvPr>
          <p:cNvCxnSpPr/>
          <p:nvPr/>
        </p:nvCxnSpPr>
        <p:spPr>
          <a:xfrm flipV="1">
            <a:off x="3517363" y="2635529"/>
            <a:ext cx="1951338" cy="985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7">
            <a:extLst>
              <a:ext uri="{FF2B5EF4-FFF2-40B4-BE49-F238E27FC236}">
                <a16:creationId xmlns:a16="http://schemas.microsoft.com/office/drawing/2014/main" id="{34C7FFBE-764C-FB77-E2C0-4BF57B0BC8D7}"/>
              </a:ext>
            </a:extLst>
          </p:cNvPr>
          <p:cNvCxnSpPr>
            <a:cxnSpLocks/>
          </p:cNvCxnSpPr>
          <p:nvPr/>
        </p:nvCxnSpPr>
        <p:spPr>
          <a:xfrm flipH="1">
            <a:off x="4665512" y="2874939"/>
            <a:ext cx="1271716" cy="821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8">
            <a:extLst>
              <a:ext uri="{FF2B5EF4-FFF2-40B4-BE49-F238E27FC236}">
                <a16:creationId xmlns:a16="http://schemas.microsoft.com/office/drawing/2014/main" id="{BD83492B-C562-7ADC-0B70-E8FEE83A2ABB}"/>
              </a:ext>
            </a:extLst>
          </p:cNvPr>
          <p:cNvCxnSpPr>
            <a:cxnSpLocks/>
          </p:cNvCxnSpPr>
          <p:nvPr/>
        </p:nvCxnSpPr>
        <p:spPr>
          <a:xfrm>
            <a:off x="5955784" y="2864643"/>
            <a:ext cx="32931" cy="847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9">
            <a:extLst>
              <a:ext uri="{FF2B5EF4-FFF2-40B4-BE49-F238E27FC236}">
                <a16:creationId xmlns:a16="http://schemas.microsoft.com/office/drawing/2014/main" id="{4A95728D-16A5-D732-CE41-3926F07FD74C}"/>
              </a:ext>
            </a:extLst>
          </p:cNvPr>
          <p:cNvCxnSpPr>
            <a:cxnSpLocks/>
          </p:cNvCxnSpPr>
          <p:nvPr/>
        </p:nvCxnSpPr>
        <p:spPr>
          <a:xfrm>
            <a:off x="5962971" y="2869792"/>
            <a:ext cx="1348944" cy="826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1">
            <a:extLst>
              <a:ext uri="{FF2B5EF4-FFF2-40B4-BE49-F238E27FC236}">
                <a16:creationId xmlns:a16="http://schemas.microsoft.com/office/drawing/2014/main" id="{398A5FF1-75D5-BAAE-A10C-3DD3DD1D88CE}"/>
              </a:ext>
            </a:extLst>
          </p:cNvPr>
          <p:cNvSpPr txBox="1"/>
          <p:nvPr/>
        </p:nvSpPr>
        <p:spPr>
          <a:xfrm>
            <a:off x="2554566" y="3449017"/>
            <a:ext cx="9473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sl-SI" noProof="0" dirty="0"/>
              <a:t>Android</a:t>
            </a:r>
          </a:p>
          <a:p>
            <a:pPr algn="ctr"/>
            <a:r>
              <a:rPr lang="sl-SI" noProof="0" dirty="0" err="1"/>
              <a:t>App</a:t>
            </a:r>
            <a:endParaRPr lang="sl-SI" noProof="0" dirty="0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BE0E89C7-4D65-852F-7CAD-0AC9C401FEB6}"/>
              </a:ext>
            </a:extLst>
          </p:cNvPr>
          <p:cNvSpPr txBox="1"/>
          <p:nvPr/>
        </p:nvSpPr>
        <p:spPr>
          <a:xfrm rot="20040000">
            <a:off x="4117564" y="2770888"/>
            <a:ext cx="81455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sl-SI" noProof="0" dirty="0"/>
              <a:t>MQTT</a:t>
            </a:r>
          </a:p>
        </p:txBody>
      </p:sp>
    </p:spTree>
    <p:extLst>
      <p:ext uri="{BB962C8B-B14F-4D97-AF65-F5344CB8AC3E}">
        <p14:creationId xmlns:p14="http://schemas.microsoft.com/office/powerpoint/2010/main" val="1746315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B1AF2D44-5106-E1B6-1750-C111ABFA2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81E8FDDC-F889-C029-2CDA-985637D9A8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l-SI" noProof="0" dirty="0"/>
              <a:t>Rudarjenje blokov</a:t>
            </a:r>
          </a:p>
        </p:txBody>
      </p:sp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90E8F1B0-D431-5B8E-A027-DD4A1EFAD1D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085850"/>
            <a:ext cx="3162609" cy="3612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l-SI" noProof="0" dirty="0"/>
              <a:t>Rudarjenje blokov lahko poteka na več vozliščih, od katerih vsako uporablja več niti.</a:t>
            </a:r>
          </a:p>
          <a:p>
            <a:pPr marL="0" indent="0">
              <a:lnSpc>
                <a:spcPct val="100000"/>
              </a:lnSpc>
              <a:buNone/>
            </a:pPr>
            <a:endParaRPr lang="sl-SI" noProof="0" dirty="0"/>
          </a:p>
          <a:p>
            <a:pPr marL="0" indent="0">
              <a:lnSpc>
                <a:spcPct val="100000"/>
              </a:lnSpc>
              <a:buNone/>
            </a:pPr>
            <a:r>
              <a:rPr lang="sl-SI" noProof="0" dirty="0"/>
              <a:t>Uporabili smo knjižnic</a:t>
            </a:r>
            <a:r>
              <a:rPr lang="en-SI" noProof="0" dirty="0"/>
              <a:t>i:</a:t>
            </a:r>
          </a:p>
          <a:p>
            <a:pPr marL="285750" indent="-285750">
              <a:lnSpc>
                <a:spcPct val="100000"/>
              </a:lnSpc>
            </a:pPr>
            <a:r>
              <a:rPr lang="sl-SI" noProof="0" dirty="0" err="1"/>
              <a:t>multiprocessing</a:t>
            </a:r>
            <a:endParaRPr lang="en-SI" dirty="0"/>
          </a:p>
          <a:p>
            <a:pPr marL="285750" indent="-285750">
              <a:lnSpc>
                <a:spcPct val="100000"/>
              </a:lnSpc>
            </a:pPr>
            <a:r>
              <a:rPr lang="sl-SI" noProof="0" dirty="0"/>
              <a:t>mpi4py</a:t>
            </a:r>
          </a:p>
          <a:p>
            <a:pPr marL="0" indent="0">
              <a:lnSpc>
                <a:spcPct val="100000"/>
              </a:lnSpc>
              <a:buNone/>
            </a:pPr>
            <a:endParaRPr lang="sl-SI" noProof="0" dirty="0"/>
          </a:p>
          <a:p>
            <a:pPr marL="0" indent="0">
              <a:lnSpc>
                <a:spcPct val="100000"/>
              </a:lnSpc>
              <a:buNone/>
            </a:pPr>
            <a:r>
              <a:rPr lang="sl-SI" noProof="0" dirty="0"/>
              <a:t>Meritve so bile opravljene na računalniku z 16 nitmi, za fiksno težavnost rudarjenja 5.</a:t>
            </a:r>
          </a:p>
          <a:p>
            <a:pPr marL="0" indent="0">
              <a:lnSpc>
                <a:spcPct val="100000"/>
              </a:lnSpc>
              <a:buNone/>
            </a:pPr>
            <a:endParaRPr lang="sl-SI" noProof="0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960451F3-BA11-71E9-37B5-C824F6C52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474" y="1187284"/>
            <a:ext cx="4934550" cy="246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52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542C53B2-02F7-1CA6-EF30-6596E61F4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E88879BD-DE89-D4F2-5517-D1AC585C4A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I" noProof="0" dirty="0" err="1"/>
              <a:t>Demonstracija</a:t>
            </a:r>
            <a:endParaRPr lang="sl-SI" noProof="0" dirty="0"/>
          </a:p>
        </p:txBody>
      </p:sp>
      <p:pic>
        <p:nvPicPr>
          <p:cNvPr id="3" name="Slika 2">
            <a:hlinkClick r:id="rId3"/>
            <a:extLst>
              <a:ext uri="{FF2B5EF4-FFF2-40B4-BE49-F238E27FC236}">
                <a16:creationId xmlns:a16="http://schemas.microsoft.com/office/drawing/2014/main" id="{E67E5B05-10C7-503C-33FA-B5931B1AC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140" y="1089502"/>
            <a:ext cx="6141720" cy="281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453369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977d9c3-581f-4bdd-aba0-24379060a60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10A7BA10F3BC04E935B844740CCF202" ma:contentTypeVersion="6" ma:contentTypeDescription="Ustvari nov dokument." ma:contentTypeScope="" ma:versionID="ca0669fd9dd112a05b7617d4622fc643">
  <xsd:schema xmlns:xsd="http://www.w3.org/2001/XMLSchema" xmlns:xs="http://www.w3.org/2001/XMLSchema" xmlns:p="http://schemas.microsoft.com/office/2006/metadata/properties" xmlns:ns3="c977d9c3-581f-4bdd-aba0-24379060a603" targetNamespace="http://schemas.microsoft.com/office/2006/metadata/properties" ma:root="true" ma:fieldsID="63c60cec9a08761227516e2952ad492e" ns3:_="">
    <xsd:import namespace="c977d9c3-581f-4bdd-aba0-24379060a60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77d9c3-581f-4bdd-aba0-24379060a6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vsebine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256255-BA11-4B77-AF62-D9C11C76B516}">
  <ds:schemaRefs>
    <ds:schemaRef ds:uri="http://purl.org/dc/terms/"/>
    <ds:schemaRef ds:uri="http://schemas.microsoft.com/office/infopath/2007/PartnerControls"/>
    <ds:schemaRef ds:uri="http://purl.org/dc/elements/1.1/"/>
    <ds:schemaRef ds:uri="http://purl.org/dc/dcmitype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c977d9c3-581f-4bdd-aba0-24379060a60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A7DA7F2-9DD5-4760-80D0-FDFB754779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77d9c3-581f-4bdd-aba0-24379060a6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A3B7D17-1AB4-4986-8B2A-BFF234CE1F3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324</Words>
  <Application>Microsoft Office PowerPoint</Application>
  <PresentationFormat>Diaprojekcija na zaslonu (16:9)</PresentationFormat>
  <Paragraphs>84</Paragraphs>
  <Slides>15</Slides>
  <Notes>15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15</vt:i4>
      </vt:variant>
    </vt:vector>
  </HeadingPairs>
  <TitlesOfParts>
    <vt:vector size="19" baseType="lpstr">
      <vt:lpstr>Arial</vt:lpstr>
      <vt:lpstr>Hanken Grotesk</vt:lpstr>
      <vt:lpstr>Figtree Black</vt:lpstr>
      <vt:lpstr>Elegant Black &amp; White Thesis Defense by Slidesgo</vt:lpstr>
      <vt:lpstr>Kaput</vt:lpstr>
      <vt:lpstr>Ideja projekta</vt:lpstr>
      <vt:lpstr>Pridobitev podatkov</vt:lpstr>
      <vt:lpstr>Zaznavanje transakcij iz slikanih izpiskov</vt:lpstr>
      <vt:lpstr>Spletni vmesnik</vt:lpstr>
      <vt:lpstr>Vizualizacija podatkov</vt:lpstr>
      <vt:lpstr>Vizualizacija podatkov</vt:lpstr>
      <vt:lpstr>Vizualizacija podatkov</vt:lpstr>
      <vt:lpstr>Vizualizacija podatkov</vt:lpstr>
      <vt:lpstr>Mobilna aplikacija</vt:lpstr>
      <vt:lpstr>Simuliranje podatkov</vt:lpstr>
      <vt:lpstr>Ročno ustvarjanje transakcij</vt:lpstr>
      <vt:lpstr>Shranjevanje v blockchain</vt:lpstr>
      <vt:lpstr>Rudarjenje blokov</vt:lpstr>
      <vt:lpstr>Demonstracija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Luka Kuder</dc:creator>
  <cp:lastModifiedBy>Luka Kuder</cp:lastModifiedBy>
  <cp:revision>6</cp:revision>
  <dcterms:modified xsi:type="dcterms:W3CDTF">2026-01-19T20:27:43Z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0x010100910A7BA10F3BC04E935B844740CCF202</vt:lpwstr>
  </property>
</Properties>
</file>